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5" r:id="rId1"/>
  </p:sldMasterIdLst>
  <p:notesMasterIdLst>
    <p:notesMasterId r:id="rId12"/>
  </p:notesMasterIdLst>
  <p:sldIdLst>
    <p:sldId id="382" r:id="rId2"/>
    <p:sldId id="363" r:id="rId3"/>
    <p:sldId id="379" r:id="rId4"/>
    <p:sldId id="374" r:id="rId5"/>
    <p:sldId id="365" r:id="rId6"/>
    <p:sldId id="373" r:id="rId7"/>
    <p:sldId id="376" r:id="rId8"/>
    <p:sldId id="368" r:id="rId9"/>
    <p:sldId id="370" r:id="rId10"/>
    <p:sldId id="362" r:id="rId11"/>
  </p:sldIdLst>
  <p:sldSz cx="13439775" cy="7559675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303" userDrawn="1">
          <p15:clr>
            <a:srgbClr val="A4A3A4"/>
          </p15:clr>
        </p15:guide>
        <p15:guide id="3" orient="horz" pos="4422" userDrawn="1">
          <p15:clr>
            <a:srgbClr val="A4A3A4"/>
          </p15:clr>
        </p15:guide>
        <p15:guide id="4" pos="4687" userDrawn="1">
          <p15:clr>
            <a:srgbClr val="A4A3A4"/>
          </p15:clr>
        </p15:guide>
        <p15:guide id="5" pos="2986" userDrawn="1">
          <p15:clr>
            <a:srgbClr val="A4A3A4"/>
          </p15:clr>
        </p15:guide>
        <p15:guide id="6" orient="horz" pos="2154" userDrawn="1">
          <p15:clr>
            <a:srgbClr val="A4A3A4"/>
          </p15:clr>
        </p15:guide>
        <p15:guide id="7" orient="horz" pos="18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орина Екатерина Леонидовна" initials="ГЕЛ" lastIdx="10" clrIdx="0">
    <p:extLst>
      <p:ext uri="{19B8F6BF-5375-455C-9EA6-DF929625EA0E}">
        <p15:presenceInfo xmlns:p15="http://schemas.microsoft.com/office/powerpoint/2012/main" userId="S-1-5-21-2542494797-2759003736-1566031932-20664" providerId="AD"/>
      </p:ext>
    </p:extLst>
  </p:cmAuthor>
  <p:cmAuthor id="2" name="Шевченко Владислав Сергеевич" initials="ШВС" lastIdx="1" clrIdx="1">
    <p:extLst>
      <p:ext uri="{19B8F6BF-5375-455C-9EA6-DF929625EA0E}">
        <p15:presenceInfo xmlns:p15="http://schemas.microsoft.com/office/powerpoint/2012/main" userId="S-1-5-21-2542494797-2759003736-1566031932-59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40"/>
    <a:srgbClr val="FF2D64"/>
    <a:srgbClr val="00A6FF"/>
    <a:srgbClr val="ACDFFF"/>
    <a:srgbClr val="D5F2FF"/>
    <a:srgbClr val="FFCEDB"/>
    <a:srgbClr val="FFF4E7"/>
    <a:srgbClr val="5A3434"/>
    <a:srgbClr val="D1D5DA"/>
    <a:srgbClr val="681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6374" autoAdjust="0"/>
  </p:normalViewPr>
  <p:slideViewPr>
    <p:cSldViewPr snapToGrid="0" snapToObjects="1">
      <p:cViewPr>
        <p:scale>
          <a:sx n="50" d="100"/>
          <a:sy n="50" d="100"/>
        </p:scale>
        <p:origin x="138" y="1248"/>
      </p:cViewPr>
      <p:guideLst>
        <p:guide orient="horz" pos="1224"/>
        <p:guide pos="3303"/>
        <p:guide orient="horz" pos="4422"/>
        <p:guide pos="4687"/>
        <p:guide pos="2986"/>
        <p:guide orient="horz" pos="2154"/>
        <p:guide orient="horz" pos="1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Базовый вариант</c:v>
                </c:pt>
                <c:pt idx="1">
                  <c:v>Автоматизированный вариант</c:v>
                </c:pt>
                <c:pt idx="2">
                  <c:v>Изменение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1197000</c:v>
                </c:pt>
                <c:pt idx="1">
                  <c:v>780000</c:v>
                </c:pt>
                <c:pt idx="2">
                  <c:v>417000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64C-4B6C-92E1-830C0DC5B4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977810256"/>
        <c:axId val="-977806448"/>
      </c:barChart>
      <c:catAx>
        <c:axId val="-97781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-977806448"/>
        <c:crosses val="autoZero"/>
        <c:auto val="1"/>
        <c:lblAlgn val="ctr"/>
        <c:lblOffset val="100"/>
        <c:noMultiLvlLbl val="0"/>
      </c:catAx>
      <c:valAx>
        <c:axId val="-97780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/>
                  <a:t>Стоимость, руб. (в год)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-977810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3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1pPr>
    <a:lvl2pPr marL="26687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2pPr>
    <a:lvl3pPr marL="53374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3pPr>
    <a:lvl4pPr marL="80061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4pPr>
    <a:lvl5pPr marL="106748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5pPr>
    <a:lvl6pPr marL="133435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6pPr>
    <a:lvl7pPr marL="160122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7pPr>
    <a:lvl8pPr marL="186809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8pPr>
    <a:lvl9pPr marL="2134959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-biblio.ru/book/bib/08_praktika/01_doc/blanks/bak/09_2_rekomendacii_po_sostavleniyu_prezentacii.docx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8939" tIns="24469" rIns="48939" bIns="24469"/>
          <a:lstStyle/>
          <a:p>
            <a:pPr marL="0" marR="0" indent="0" algn="l" defTabSz="533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latin typeface="TT Norms Regular" panose="02000503030000020003" pitchFamily="2" charset="-52"/>
              </a:rPr>
              <a:t>Рекомендации по составлению презентации</a:t>
            </a:r>
            <a:r>
              <a:rPr lang="en-US" dirty="0">
                <a:latin typeface="TT Norms Regular" panose="02000503030000020003" pitchFamily="2" charset="-52"/>
              </a:rPr>
              <a:t> </a:t>
            </a:r>
            <a:r>
              <a:rPr lang="ru-RU" dirty="0">
                <a:latin typeface="TT Norms Regular" panose="02000503030000020003" pitchFamily="2" charset="-52"/>
              </a:rPr>
              <a:t>откройте</a:t>
            </a:r>
            <a:r>
              <a:rPr lang="ru-RU" baseline="0" dirty="0">
                <a:latin typeface="TT Norms Regular" panose="02000503030000020003" pitchFamily="2" charset="-52"/>
              </a:rPr>
              <a:t> по ссылке</a:t>
            </a:r>
            <a:r>
              <a:rPr lang="ru-RU" dirty="0">
                <a:latin typeface="TT Norms Regular" panose="02000503030000020003" pitchFamily="2" charset="-52"/>
              </a:rPr>
              <a:t> </a:t>
            </a:r>
            <a:r>
              <a:rPr lang="en-US" sz="700" dirty="0">
                <a:hlinkClick r:id="rId3"/>
              </a:rPr>
              <a:t>https://e-biblio.ru/book/bib/08_praktika/01_doc/blanks/bak/09_2_rekomendacii_po_sostavleniyu_prezentacii.docx</a:t>
            </a:r>
            <a:r>
              <a:rPr lang="ru-RU" sz="701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8939" tIns="24469" rIns="48939" bIns="24469"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1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21791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1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550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862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685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696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198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402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415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8939" tIns="24469" rIns="48939" bIns="24469"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8939" tIns="24469" rIns="48939" bIns="24469"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10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9976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062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9644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6971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86578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16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1548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575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7625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2533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311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255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 userDrawn="1"/>
        </p:nvCxnSpPr>
        <p:spPr>
          <a:xfrm flipH="1">
            <a:off x="-1673905" y="6357905"/>
            <a:ext cx="15957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2517765" y="-491224"/>
            <a:ext cx="3284045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ШАБЛОН ЗАГОЛОВОЧНОГО СЛАЙДА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-1281524" y="-488377"/>
            <a:ext cx="2027846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Пустое поле </a:t>
            </a:r>
          </a:p>
        </p:txBody>
      </p:sp>
      <p:cxnSp>
        <p:nvCxnSpPr>
          <p:cNvPr id="11" name="Прямая со стрелкой 10"/>
          <p:cNvCxnSpPr/>
          <p:nvPr userDrawn="1"/>
        </p:nvCxnSpPr>
        <p:spPr>
          <a:xfrm>
            <a:off x="-643126" y="-251203"/>
            <a:ext cx="138944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>
            <a:off x="746322" y="-816429"/>
            <a:ext cx="0" cy="8164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 flipH="1">
            <a:off x="751453" y="-442211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1022206" y="-626877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6334638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СТРОЧНЫЙ ЗАГОЛОВОК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xmlns="" id="{1D68A00E-77E9-4E17-AB6D-30B5DE41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9" y="290289"/>
            <a:ext cx="9574963" cy="53918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68000"/>
              </a:lnSpc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4C31DF66-FD31-40D2-86E3-859CBFE0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lang="ru-RU" sz="880" b="0" i="0" kern="0" spc="-55" smtClean="0">
                <a:solidFill>
                  <a:srgbClr val="757575"/>
                </a:solidFill>
                <a:latin typeface="+mn-lt"/>
                <a:ea typeface="TT Norms Regular" pitchFamily="34" charset="-122"/>
                <a:cs typeface="TT Norms Regular" pitchFamily="34" charset="-120"/>
              </a:defRPr>
            </a:lvl1pPr>
          </a:lstStyle>
          <a:p>
            <a:fld id="{77D613D0-6E26-43FB-BD47-70B2F75E669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4" name="Прямая соединительная линия 3"/>
          <p:cNvCxnSpPr/>
          <p:nvPr userDrawn="1"/>
        </p:nvCxnSpPr>
        <p:spPr>
          <a:xfrm flipV="1">
            <a:off x="518833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 flipV="1">
            <a:off x="-16115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 userDrawn="1"/>
        </p:nvCxnSpPr>
        <p:spPr>
          <a:xfrm>
            <a:off x="-16115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-119279" y="-903323"/>
            <a:ext cx="908865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Левое поле (пустое)</a:t>
            </a:r>
          </a:p>
        </p:txBody>
      </p:sp>
      <p:cxnSp>
        <p:nvCxnSpPr>
          <p:cNvPr id="16" name="Прямая соединительная линия 15"/>
          <p:cNvCxnSpPr/>
          <p:nvPr userDrawn="1"/>
        </p:nvCxnSpPr>
        <p:spPr>
          <a:xfrm flipV="1">
            <a:off x="13432082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 userDrawn="1"/>
        </p:nvCxnSpPr>
        <p:spPr>
          <a:xfrm flipV="1">
            <a:off x="12916356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 userDrawn="1"/>
        </p:nvCxnSpPr>
        <p:spPr>
          <a:xfrm>
            <a:off x="12897134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12793969" y="-903323"/>
            <a:ext cx="908865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Правое поле (пустое)</a:t>
            </a:r>
          </a:p>
        </p:txBody>
      </p:sp>
      <p:cxnSp>
        <p:nvCxnSpPr>
          <p:cNvPr id="20" name="Прямая соединительная линия 19"/>
          <p:cNvCxnSpPr/>
          <p:nvPr userDrawn="1"/>
        </p:nvCxnSpPr>
        <p:spPr>
          <a:xfrm flipH="1">
            <a:off x="518834" y="-327804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2147126" y="338091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первой строки заголовка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-2147125" y="988770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второй строки заголовка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875743" y="-375808"/>
            <a:ext cx="3284045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ШАБЛОН СЛАЙДА 1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89586" y="-512470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  <p:pic>
        <p:nvPicPr>
          <p:cNvPr id="26" name="Рисунок 2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9613" b="8195"/>
          <a:stretch/>
        </p:blipFill>
        <p:spPr>
          <a:xfrm>
            <a:off x="12636982" y="338091"/>
            <a:ext cx="313974" cy="28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76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76">
          <p15:clr>
            <a:srgbClr val="FBAE40"/>
          </p15:clr>
        </p15:guide>
        <p15:guide id="2" pos="8139">
          <p15:clr>
            <a:srgbClr val="FBAE40"/>
          </p15:clr>
        </p15:guide>
        <p15:guide id="3" pos="327">
          <p15:clr>
            <a:srgbClr val="FBAE40"/>
          </p15:clr>
        </p15:guide>
        <p15:guide id="4" orient="horz" pos="86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66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6" userDrawn="1">
          <p15:clr>
            <a:srgbClr val="F26B43"/>
          </p15:clr>
        </p15:guide>
        <p15:guide id="2" orient="horz" pos="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8" y="477896"/>
            <a:ext cx="3699279" cy="384659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2F1AF64E-8F75-42AA-8383-426D976824EB}"/>
              </a:ext>
            </a:extLst>
          </p:cNvPr>
          <p:cNvCxnSpPr>
            <a:cxnSpLocks/>
          </p:cNvCxnSpPr>
          <p:nvPr/>
        </p:nvCxnSpPr>
        <p:spPr>
          <a:xfrm>
            <a:off x="744193" y="6170068"/>
            <a:ext cx="12695582" cy="0"/>
          </a:xfrm>
          <a:prstGeom prst="line">
            <a:avLst/>
          </a:prstGeom>
          <a:ln w="28575">
            <a:solidFill>
              <a:srgbClr val="FF0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/>
          <p:cNvSpPr/>
          <p:nvPr/>
        </p:nvSpPr>
        <p:spPr>
          <a:xfrm>
            <a:off x="731494" y="2270527"/>
            <a:ext cx="11955806" cy="389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ru-RU" sz="7000" kern="0" spc="-300" dirty="0"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Выпускная квалификационная работа</a:t>
            </a:r>
          </a:p>
          <a:p>
            <a:pPr>
              <a:lnSpc>
                <a:spcPct val="80000"/>
              </a:lnSpc>
            </a:pPr>
            <a:r>
              <a:rPr lang="ru-RU" sz="54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на </a:t>
            </a:r>
            <a:r>
              <a:rPr lang="ru-RU" sz="5400" kern="0" spc="-300" dirty="0" smtClean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тему </a:t>
            </a:r>
            <a:r>
              <a:rPr lang="ru-RU" sz="5400" kern="0" spc="-300" dirty="0" smtClean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«Управление </a:t>
            </a:r>
            <a:r>
              <a:rPr lang="ru-RU" sz="54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разработкой ИС и ее внедрением на предприятии на примере АО «</a:t>
            </a:r>
            <a:r>
              <a:rPr lang="ru-RU" sz="5400" kern="0" spc="-300" dirty="0" smtClean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Тандер»</a:t>
            </a:r>
            <a:endParaRPr lang="ru-RU" sz="5400" kern="0" spc="-300" dirty="0">
              <a:solidFill>
                <a:srgbClr val="FF0040"/>
              </a:solidFill>
              <a:latin typeface="TT Norms Regular" pitchFamily="34" charset="0"/>
              <a:ea typeface="TT Norms Regular" pitchFamily="34" charset="-122"/>
              <a:cs typeface="TT Norms Regular" pitchFamily="34" charset="-120"/>
            </a:endParaRPr>
          </a:p>
        </p:txBody>
      </p:sp>
      <p:sp>
        <p:nvSpPr>
          <p:cNvPr id="8" name="Text 1"/>
          <p:cNvSpPr/>
          <p:nvPr/>
        </p:nvSpPr>
        <p:spPr>
          <a:xfrm>
            <a:off x="1321787" y="6409236"/>
            <a:ext cx="8784739" cy="7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500" dirty="0">
                <a:cs typeface="Gotham Pro Medium" panose="02000603030000020004" pitchFamily="50" charset="0"/>
              </a:rPr>
              <a:t>Обучающийся: </a:t>
            </a:r>
            <a:r>
              <a:rPr lang="ru-RU" sz="2500" dirty="0">
                <a:cs typeface="Gotham Pro Medium" panose="02000603030000020004" pitchFamily="50" charset="0"/>
              </a:rPr>
              <a:t>Матвеенко Дмитрий </a:t>
            </a:r>
            <a:r>
              <a:rPr lang="ru-RU" sz="2500" dirty="0" smtClean="0">
                <a:cs typeface="Gotham Pro Medium" panose="02000603030000020004" pitchFamily="50" charset="0"/>
              </a:rPr>
              <a:t>Владимирович</a:t>
            </a:r>
          </a:p>
          <a:p>
            <a:r>
              <a:rPr lang="ru-RU" sz="2500" dirty="0" smtClean="0">
                <a:cs typeface="Gotham Pro Medium" panose="02000603030000020004" pitchFamily="50" charset="0"/>
              </a:rPr>
              <a:t>Руководитель</a:t>
            </a:r>
            <a:r>
              <a:rPr lang="ru-RU" sz="2500" dirty="0">
                <a:cs typeface="Gotham Pro Medium" panose="02000603030000020004" pitchFamily="50" charset="0"/>
              </a:rPr>
              <a:t>: Батищев Александр Витальевич</a:t>
            </a:r>
            <a:endParaRPr lang="ru-RU" sz="2500" dirty="0">
              <a:cs typeface="Gotham Pro Medium" panose="02000603030000020004" pitchFamily="50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731494" y="6525258"/>
            <a:ext cx="363457" cy="363513"/>
          </a:xfrm>
          <a:prstGeom prst="rect">
            <a:avLst/>
          </a:prstGeom>
        </p:spPr>
      </p:pic>
      <p:sp>
        <p:nvSpPr>
          <p:cNvPr id="9" name="Freeform 5"/>
          <p:cNvSpPr>
            <a:spLocks/>
          </p:cNvSpPr>
          <p:nvPr/>
        </p:nvSpPr>
        <p:spPr bwMode="auto">
          <a:xfrm>
            <a:off x="10235821" y="0"/>
            <a:ext cx="3203954" cy="6170068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noFill/>
          <a:ln w="6350">
            <a:solidFill>
              <a:srgbClr val="FF004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9DEAFA52-E449-11AC-AE73-71A0340B865D}"/>
              </a:ext>
            </a:extLst>
          </p:cNvPr>
          <p:cNvSpPr/>
          <p:nvPr/>
        </p:nvSpPr>
        <p:spPr>
          <a:xfrm>
            <a:off x="745398" y="1101722"/>
            <a:ext cx="11247680" cy="7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>
                <a:cs typeface="Gotham Pro Medium" panose="02000603030000020004" pitchFamily="50" charset="0"/>
              </a:rPr>
              <a:t>Направление </a:t>
            </a:r>
            <a:r>
              <a:rPr lang="ru-RU" sz="2000" dirty="0">
                <a:cs typeface="Gotham Pro Medium" panose="02000603030000020004" pitchFamily="50" charset="0"/>
              </a:rPr>
              <a:t>подготовки</a:t>
            </a:r>
            <a:r>
              <a:rPr lang="ru-RU" sz="2000" dirty="0" smtClean="0">
                <a:cs typeface="Gotham Pro Medium" panose="02000603030000020004" pitchFamily="50" charset="0"/>
              </a:rPr>
              <a:t>: 09.04.03 </a:t>
            </a:r>
            <a:r>
              <a:rPr lang="ru-RU" sz="2000" dirty="0">
                <a:cs typeface="Gotham Pro Medium" panose="02000603030000020004" pitchFamily="50" charset="0"/>
              </a:rPr>
              <a:t>Прикладная информатика</a:t>
            </a:r>
            <a:endParaRPr lang="ru-RU" sz="2000" dirty="0">
              <a:cs typeface="Gotham Pro Medium" panose="02000603030000020004" pitchFamily="50" charset="0"/>
            </a:endParaRPr>
          </a:p>
          <a:p>
            <a:r>
              <a:rPr lang="ru-RU" sz="2000" dirty="0">
                <a:cs typeface="Gotham Pro Medium" panose="02000603030000020004" pitchFamily="50" charset="0"/>
              </a:rPr>
              <a:t>Профиль</a:t>
            </a:r>
            <a:r>
              <a:rPr lang="ru-RU" sz="2000" dirty="0">
                <a:cs typeface="Gotham Pro Medium" panose="02000603030000020004" pitchFamily="50" charset="0"/>
              </a:rPr>
              <a:t>: Программное обеспечение, Интернет и облачные технологии</a:t>
            </a:r>
            <a:endParaRPr lang="ru-RU" sz="2000" dirty="0">
              <a:cs typeface="Gotham Pro Medium" panose="02000603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81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>
                <a:solidFill>
                  <a:srgbClr val="FF0000"/>
                </a:solidFill>
              </a:rPr>
              <a:t>Постановка задачи </a:t>
            </a:r>
            <a:r>
              <a:rPr lang="ru-RU" sz="6000" dirty="0" smtClean="0">
                <a:solidFill>
                  <a:srgbClr val="FF0000"/>
                </a:solidFill>
              </a:rPr>
              <a:t>исследования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2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бъект 2"/>
          <p:cNvSpPr txBox="1">
            <a:spLocks/>
          </p:cNvSpPr>
          <p:nvPr/>
        </p:nvSpPr>
        <p:spPr>
          <a:xfrm>
            <a:off x="694957" y="3593064"/>
            <a:ext cx="11954243" cy="870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бизнес-процессы взаимодействия и обмена информацией между курьерами и супервайзерами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Заголовок 7"/>
          <p:cNvSpPr txBox="1">
            <a:spLocks/>
          </p:cNvSpPr>
          <p:nvPr/>
        </p:nvSpPr>
        <p:spPr>
          <a:xfrm>
            <a:off x="433665" y="3145469"/>
            <a:ext cx="5474568" cy="5837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Объект 2"/>
          <p:cNvSpPr txBox="1">
            <a:spLocks/>
          </p:cNvSpPr>
          <p:nvPr/>
        </p:nvSpPr>
        <p:spPr>
          <a:xfrm>
            <a:off x="724434" y="1976598"/>
            <a:ext cx="11753316" cy="703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компания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АО «Тандер»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Заголовок 7"/>
          <p:cNvSpPr txBox="1">
            <a:spLocks/>
          </p:cNvSpPr>
          <p:nvPr/>
        </p:nvSpPr>
        <p:spPr>
          <a:xfrm>
            <a:off x="456138" y="1481423"/>
            <a:ext cx="5474568" cy="5837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Заголовок 7"/>
          <p:cNvSpPr txBox="1">
            <a:spLocks/>
          </p:cNvSpPr>
          <p:nvPr/>
        </p:nvSpPr>
        <p:spPr>
          <a:xfrm>
            <a:off x="412750" y="4765848"/>
            <a:ext cx="5474568" cy="5837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Объект 2"/>
          <p:cNvSpPr txBox="1">
            <a:spLocks/>
          </p:cNvSpPr>
          <p:nvPr/>
        </p:nvSpPr>
        <p:spPr>
          <a:xfrm>
            <a:off x="669776" y="5349578"/>
            <a:ext cx="11979424" cy="1728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информационной системы для автоматизации процессов взаимодействия и обмена информацией между курьерами и супервайзерами в компании АО «Тандер»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29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 smtClean="0">
                <a:solidFill>
                  <a:srgbClr val="FF0000"/>
                </a:solidFill>
              </a:rPr>
              <a:t>Задачи ВКР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3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12750" y="1402377"/>
            <a:ext cx="12938800" cy="5029750"/>
          </a:xfrm>
          <a:prstGeom prst="rect">
            <a:avLst/>
          </a:prstGeom>
        </p:spPr>
        <p:txBody>
          <a:bodyPr wrap="square" lIns="104306" tIns="52153" rIns="104306" bIns="52153">
            <a:spAutoFit/>
          </a:bodyPr>
          <a:lstStyle/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1) провести анализ предметной области для обоснования необходимости автоматизации;</a:t>
            </a:r>
          </a:p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2) выбрать проектные решения по видам обеспечения;</a:t>
            </a:r>
          </a:p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3) выполнить разработку этапов жизненного цикла проекта автоматизации;</a:t>
            </a:r>
          </a:p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4) выполнить проектирование информационной системы;</a:t>
            </a:r>
          </a:p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4) осуществить разработку информационной системы и описать основные моменты разработки;</a:t>
            </a:r>
          </a:p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5) провести расчеты для обоснования экономической эффективности предлагаемого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16028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 smtClean="0">
                <a:solidFill>
                  <a:srgbClr val="FF0000"/>
                </a:solidFill>
              </a:rPr>
              <a:t>Бизнес-процессы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4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466022" y="1490345"/>
            <a:ext cx="8557578" cy="594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3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 smtClean="0">
                <a:solidFill>
                  <a:srgbClr val="FF0000"/>
                </a:solidFill>
              </a:rPr>
              <a:t>Обзор систем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5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Содержимое 1"/>
          <p:cNvSpPr txBox="1">
            <a:spLocks/>
          </p:cNvSpPr>
          <p:nvPr/>
        </p:nvSpPr>
        <p:spPr>
          <a:xfrm>
            <a:off x="666180" y="1781547"/>
            <a:ext cx="10420920" cy="3777622"/>
          </a:xfrm>
          <a:prstGeom prst="rect">
            <a:avLst/>
          </a:prstGeom>
        </p:spPr>
        <p:txBody>
          <a:bodyPr>
            <a:norm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 «Мегаплан»;</a:t>
            </a:r>
          </a:p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 «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»;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«Битрикс24».</a:t>
            </a:r>
          </a:p>
        </p:txBody>
      </p:sp>
    </p:spTree>
    <p:extLst>
      <p:ext uri="{BB962C8B-B14F-4D97-AF65-F5344CB8AC3E}">
        <p14:creationId xmlns:p14="http://schemas.microsoft.com/office/powerpoint/2010/main" val="339854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 smtClean="0">
                <a:solidFill>
                  <a:srgbClr val="FF0000"/>
                </a:solidFill>
              </a:rPr>
              <a:t>Схема базы данных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6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522" y="1967865"/>
            <a:ext cx="6120130" cy="51225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132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 smtClean="0">
                <a:solidFill>
                  <a:srgbClr val="FF0000"/>
                </a:solidFill>
              </a:rPr>
              <a:t>Контрольный пример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7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726122" y="1752837"/>
            <a:ext cx="6120130" cy="24561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953956" y="1752837"/>
            <a:ext cx="6120130" cy="2870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Рисунок 12"/>
          <p:cNvPicPr/>
          <p:nvPr/>
        </p:nvPicPr>
        <p:blipFill>
          <a:blip r:embed="rId5"/>
          <a:stretch>
            <a:fillRect/>
          </a:stretch>
        </p:blipFill>
        <p:spPr>
          <a:xfrm>
            <a:off x="618418" y="3647280"/>
            <a:ext cx="2029460" cy="36810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Рисунок 14"/>
          <p:cNvPicPr/>
          <p:nvPr/>
        </p:nvPicPr>
        <p:blipFill>
          <a:blip r:embed="rId6"/>
          <a:stretch>
            <a:fillRect/>
          </a:stretch>
        </p:blipFill>
        <p:spPr>
          <a:xfrm>
            <a:off x="4142422" y="4955855"/>
            <a:ext cx="6120130" cy="13061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252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 smtClean="0">
                <a:solidFill>
                  <a:srgbClr val="FF0000"/>
                </a:solidFill>
              </a:rPr>
              <a:t>Контрольный пример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8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6560820" y="1525586"/>
            <a:ext cx="6120130" cy="39185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Рисунок 13"/>
          <p:cNvPicPr/>
          <p:nvPr/>
        </p:nvPicPr>
        <p:blipFill>
          <a:blip r:embed="rId4"/>
          <a:stretch>
            <a:fillRect/>
          </a:stretch>
        </p:blipFill>
        <p:spPr>
          <a:xfrm>
            <a:off x="1723708" y="1188085"/>
            <a:ext cx="2740025" cy="59455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128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xmlns="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912600" cy="108804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 smtClean="0">
                <a:solidFill>
                  <a:srgbClr val="FF0000"/>
                </a:solidFill>
              </a:rPr>
              <a:t>Экономические расчеты</a:t>
            </a:r>
            <a:endParaRPr lang="ru-RU" sz="6000" dirty="0">
              <a:solidFill>
                <a:srgbClr val="FF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9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бъект 2"/>
          <p:cNvSpPr txBox="1">
            <a:spLocks/>
          </p:cNvSpPr>
          <p:nvPr/>
        </p:nvSpPr>
        <p:spPr>
          <a:xfrm>
            <a:off x="723900" y="1599081"/>
            <a:ext cx="9563100" cy="1544169"/>
          </a:xfrm>
          <a:prstGeom prst="rect">
            <a:avLst/>
          </a:prstGeom>
        </p:spPr>
        <p:txBody>
          <a:bodyPr>
            <a:norm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 на разработку и внедрение: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 316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тыс. руб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Годовой экономический эффект: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 417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тыс. руб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окупаемости проекта: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9 месяцев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3466575063"/>
              </p:ext>
            </p:extLst>
          </p:nvPr>
        </p:nvGraphicFramePr>
        <p:xfrm>
          <a:off x="2566986" y="3163570"/>
          <a:ext cx="7891463" cy="4202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748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2F1AF64E-8F75-42AA-8383-426D976824EB}"/>
              </a:ext>
            </a:extLst>
          </p:cNvPr>
          <p:cNvCxnSpPr>
            <a:cxnSpLocks/>
          </p:cNvCxnSpPr>
          <p:nvPr/>
        </p:nvCxnSpPr>
        <p:spPr>
          <a:xfrm>
            <a:off x="744193" y="6170068"/>
            <a:ext cx="12695582" cy="0"/>
          </a:xfrm>
          <a:prstGeom prst="line">
            <a:avLst/>
          </a:prstGeom>
          <a:ln w="28575">
            <a:solidFill>
              <a:srgbClr val="FF0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/>
          <p:cNvSpPr/>
          <p:nvPr/>
        </p:nvSpPr>
        <p:spPr>
          <a:xfrm>
            <a:off x="675252" y="4139948"/>
            <a:ext cx="10126098" cy="183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ru-RU" sz="7000" kern="0" spc="-300" dirty="0" smtClean="0"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7000" kern="0" spc="-300" dirty="0" smtClean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Спасибо за внимание</a:t>
            </a:r>
            <a:endParaRPr lang="ru-RU" sz="7000" kern="0" spc="-300" dirty="0">
              <a:solidFill>
                <a:srgbClr val="FF0040"/>
              </a:solidFill>
              <a:latin typeface="TT Norms Regular" pitchFamily="34" charset="0"/>
              <a:ea typeface="TT Norms Regular" pitchFamily="34" charset="-122"/>
              <a:cs typeface="TT Norms Regular" pitchFamily="34" charset="-12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31494" y="6502398"/>
            <a:ext cx="363457" cy="363513"/>
          </a:xfrm>
          <a:prstGeom prst="rect">
            <a:avLst/>
          </a:prstGeom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xmlns="" id="{ACE4B178-0BDF-49B9-93C7-50175F2D1893}"/>
              </a:ext>
            </a:extLst>
          </p:cNvPr>
          <p:cNvSpPr>
            <a:spLocks/>
          </p:cNvSpPr>
          <p:nvPr/>
        </p:nvSpPr>
        <p:spPr bwMode="auto">
          <a:xfrm>
            <a:off x="8434815" y="-1049654"/>
            <a:ext cx="5004960" cy="9803130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9" y="477896"/>
            <a:ext cx="2870348" cy="2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6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T Norms Medium"/>
        <a:ea typeface=""/>
        <a:cs typeface=""/>
      </a:majorFont>
      <a:minorFont>
        <a:latin typeface="TT Norms Regular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8046</TotalTime>
  <Words>232</Words>
  <Application>Microsoft Office PowerPoint</Application>
  <PresentationFormat>Произвольный</PresentationFormat>
  <Paragraphs>46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Calibri</vt:lpstr>
      <vt:lpstr>Gotham Pro Medium</vt:lpstr>
      <vt:lpstr>Symbol</vt:lpstr>
      <vt:lpstr>Times New Roman</vt:lpstr>
      <vt:lpstr>TT Norms Medium</vt:lpstr>
      <vt:lpstr>TT Norms Regular</vt:lpstr>
      <vt:lpstr>Wingdings 3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Учетная запись Майкрософт</cp:lastModifiedBy>
  <cp:revision>709</cp:revision>
  <cp:lastPrinted>2023-01-31T15:18:13Z</cp:lastPrinted>
  <dcterms:created xsi:type="dcterms:W3CDTF">2022-08-02T06:53:33Z</dcterms:created>
  <dcterms:modified xsi:type="dcterms:W3CDTF">2026-09-25T18:54:28Z</dcterms:modified>
</cp:coreProperties>
</file>